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ideSize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>
      <a:lvl1pPr algn="l"/>
      <a:defRPr sz="4400"/>
    </p:titleStyle>
    <p:bodyStyle>
      <a:lvl1pPr algn="l"/>
      <a:defRPr sz="2000"/>
    </p:bodyStyle>
    <p:otherStyle>
      <a:defRPr sz="1600"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</p:sp>
      <p:sp>
        <p:nvSpPr>
          <p:cNvPr id="3" name="Glow 1"/>
          <p:cNvSpPr/>
          <p:nvPr/>
        </p:nvSpPr>
        <p:spPr>
          <a:xfrm>
            <a:off x="8412480" y="-1371599"/>
            <a:ext cx="4206240" cy="4206240"/>
          </a:xfrm>
          <a:prstGeom prst="roundRect">
            <a:avLst/>
          </a:prstGeom>
          <a:solidFill>
            <a:srgbClr val="7B1E2B">
              <a:alpha val="10000"/>
            </a:srgbClr>
          </a:solidFill>
          <a:ln>
            <a:noFill/>
          </a:ln>
        </p:spPr>
      </p:sp>
      <p:sp>
        <p:nvSpPr>
          <p:cNvPr id="4" name="Glow 2"/>
          <p:cNvSpPr/>
          <p:nvPr/>
        </p:nvSpPr>
        <p:spPr>
          <a:xfrm>
            <a:off x="9052560" y="-731520"/>
            <a:ext cx="2926080" cy="2926080"/>
          </a:xfrm>
          <a:prstGeom prst="roundRect">
            <a:avLst/>
          </a:prstGeom>
          <a:solidFill>
            <a:srgbClr val="7B1E2B">
              <a:alpha val="14000"/>
            </a:srgbClr>
          </a:solidFill>
          <a:ln>
            <a:noFill/>
          </a:ln>
        </p:spPr>
      </p:sp>
      <p:sp>
        <p:nvSpPr>
          <p:cNvPr id="5" name="Glow 3"/>
          <p:cNvSpPr/>
          <p:nvPr/>
        </p:nvSpPr>
        <p:spPr>
          <a:xfrm>
            <a:off x="-1280160" y="3657599"/>
            <a:ext cx="4754880" cy="4754880"/>
          </a:xfrm>
          <a:prstGeom prst="roundRect">
            <a:avLst/>
          </a:prstGeom>
          <a:solidFill>
            <a:srgbClr val="C2A06A">
              <a:alpha val="8000"/>
            </a:srgbClr>
          </a:solidFill>
          <a:ln>
            <a:noFill/>
          </a:ln>
        </p:spPr>
      </p:sp>
      <p:sp>
        <p:nvSpPr>
          <p:cNvPr id="6" name="Glow 4"/>
          <p:cNvSpPr/>
          <p:nvPr/>
        </p:nvSpPr>
        <p:spPr>
          <a:xfrm>
            <a:off x="-640080" y="4297679"/>
            <a:ext cx="3474720" cy="3474720"/>
          </a:xfrm>
          <a:prstGeom prst="roundRect">
            <a:avLst/>
          </a:prstGeom>
          <a:solidFill>
            <a:srgbClr val="C2A06A">
              <a:alpha val="12000"/>
            </a:srgbClr>
          </a:solidFill>
          <a:ln>
            <a:noFill/>
          </a:ln>
        </p:spPr>
      </p:sp>
      <p:sp>
        <p:nvSpPr>
          <p:cNvPr id="7" name="Eyebrow"/>
          <p:cNvSpPr/>
          <p:nvPr/>
        </p:nvSpPr>
        <p:spPr>
          <a:xfrm>
            <a:off x="731520" y="640080"/>
            <a:ext cx="29260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151A">
                <a:alpha val="8000"/>
              </a:srgbClr>
            </a:solidFill>
          </a:ln>
        </p:spPr>
        <p:txBody>
          <a:bodyPr wrap="square" anchor="ctr" lIns="137160" rIns="137160" tIns="137160" bIns="137160"/>
          <a:lstStyle/>
          <a:p>
            <a:pPr algn="l"/>
            <a:r>
              <a:rPr sz="1100" lang="en-US" b="1">
                <a:latin typeface="Space Grotesk"/>
                <a:srgbClr val="78716C"/>
              </a:rPr>
              <a:t>AGENT WARGAME</a:t>
            </a:r>
            <a:endParaRPr lang="en-US"/>
          </a:p>
        </p:txBody>
      </p:sp>
      <p:sp>
        <p:nvSpPr>
          <p:cNvPr id="8" name="Eyebrow Dot"/>
          <p:cNvSpPr/>
          <p:nvPr/>
        </p:nvSpPr>
        <p:spPr>
          <a:xfrm>
            <a:off x="868680" y="790956"/>
            <a:ext cx="109728" cy="109728"/>
          </a:xfrm>
          <a:prstGeom prst="roundRect">
            <a:avLst/>
          </a:prstGeom>
          <a:solidFill>
            <a:srgbClr val="7B1E2B"/>
          </a:solidFill>
          <a:ln>
            <a:noFill/>
          </a:ln>
        </p:spPr>
      </p:sp>
      <p:sp>
        <p:nvSpPr>
          <p:cNvPr id="9" name="Hero Icon"/>
          <p:cNvSpPr/>
          <p:nvPr/>
        </p:nvSpPr>
        <p:spPr>
          <a:xfrm>
            <a:off x="731520" y="1325880"/>
            <a:ext cx="640080" cy="640080"/>
          </a:xfrm>
          <a:prstGeom prst="roundRect">
            <a:avLst/>
          </a:prstGeom>
          <a:solidFill>
            <a:srgbClr val="1C1917"/>
          </a:solidFill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sz="2200" lang="en-US" b="1">
                <a:latin typeface="Fraunces"/>
                <a:srgbClr val="FFFFFF"/>
              </a:rPr>
              <a:t>A</a:t>
            </a:r>
            <a:endParaRPr lang="en-US"/>
          </a:p>
        </p:txBody>
      </p:sp>
      <p:sp>
        <p:nvSpPr>
          <p:cNvPr id="10" name="Title"/>
          <p:cNvSpPr/>
          <p:nvPr/>
        </p:nvSpPr>
        <p:spPr>
          <a:xfrm>
            <a:off x="731520" y="192024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/>
          <a:lstStyle/>
          <a:p>
            <a:pPr algn="l"/>
            <a:r>
              <a:rPr sz="5200" lang="en-US">
                <a:latin typeface="Fraunces"/>
                <a:srgbClr val="12151A"/>
              </a:rPr>
              <a:t>Agent Wargame</a:t>
            </a:r>
            <a:endParaRPr lang="en-US"/>
          </a:p>
        </p:txBody>
      </p:sp>
      <p:sp>
        <p:nvSpPr>
          <p:cNvPr id="11" name="Subtitle"/>
          <p:cNvSpPr/>
          <p:nvPr/>
        </p:nvSpPr>
        <p:spPr>
          <a:xfrm>
            <a:off x="731520" y="2743200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/>
          <a:lstStyle/>
          <a:p>
            <a:pPr algn="l"/>
            <a:r>
              <a:rPr sz="2000" lang="en-US">
                <a:latin typeface="Space Grotesk"/>
                <a:srgbClr val="6D737F"/>
              </a:rPr>
              <a:t>A multi‑agent simulation of power, incentives, and emergent outcomes.</a:t>
            </a:r>
            <a:endParaRPr lang="en-US"/>
          </a:p>
        </p:txBody>
      </p:sp>
      <p:sp>
        <p:nvSpPr>
          <p:cNvPr id="12" name="Feature Card 1"/>
          <p:cNvSpPr/>
          <p:nvPr/>
        </p:nvSpPr>
        <p:spPr>
          <a:xfrm>
            <a:off x="731520" y="3840480"/>
            <a:ext cx="2743200" cy="822960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12151A">
                <a:alpha val="8000"/>
              </a:srgbClr>
            </a:solidFill>
          </a:ln>
        </p:spPr>
        <p:txBody>
          <a:bodyPr wrap="square" anchor="t" lIns="109728" rIns="109728" tIns="109728" bIns="109728"/>
          <a:lstStyle/>
          <a:p>
            <a:pPr algn="l"/>
            <a:r>
              <a:rPr sz="900" lang="en-US" b="1">
                <a:latin typeface="Space Grotesk"/>
                <a:srgbClr val="78716C"/>
              </a:rPr>
              <a:t>BRANCHING TIMELINE</a:t>
            </a:r>
            <a:endParaRPr lang="en-US"/>
          </a:p>
          <a:p>
            <a:pPr algn="l"/>
            <a:r>
              <a:rPr sz="1200" lang="en-US">
                <a:latin typeface="Space Grotesk"/>
                <a:srgbClr val="44403C"/>
              </a:rPr>
              <a:t>Fork critical turns and compare futures.</a:t>
            </a:r>
            <a:endParaRPr lang="en-US"/>
          </a:p>
        </p:txBody>
      </p:sp>
      <p:sp>
        <p:nvSpPr>
          <p:cNvPr id="13" name="Feature Card 2"/>
          <p:cNvSpPr/>
          <p:nvPr/>
        </p:nvSpPr>
        <p:spPr>
          <a:xfrm>
            <a:off x="3657600" y="3840480"/>
            <a:ext cx="2743200" cy="822960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12151A">
                <a:alpha val="8000"/>
              </a:srgbClr>
            </a:solidFill>
          </a:ln>
        </p:spPr>
        <p:txBody>
          <a:bodyPr wrap="square" anchor="t" lIns="109728" rIns="109728" tIns="109728" bIns="109728"/>
          <a:lstStyle/>
          <a:p>
            <a:pPr algn="l"/>
            <a:r>
              <a:rPr sz="900" lang="en-US" b="1">
                <a:latin typeface="Space Grotesk"/>
                <a:srgbClr val="78716C"/>
              </a:rPr>
              <a:t>MANY AGENTS</a:t>
            </a:r>
            <a:endParaRPr lang="en-US"/>
          </a:p>
          <a:p>
            <a:pPr algn="l"/>
            <a:r>
              <a:rPr sz="1200" lang="en-US">
                <a:latin typeface="Space Grotesk"/>
                <a:srgbClr val="44403C"/>
              </a:rPr>
              <a:t>Motives, constraints, leverage evolve each turn.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</p:sp>
      <p:sp>
        <p:nvSpPr>
          <p:cNvPr id="3" name="Palette Title"/>
          <p:cNvSpPr/>
          <p:nvPr/>
        </p:nvSpPr>
        <p:spPr>
          <a:xfrm>
            <a:off x="731520" y="45720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/>
          <a:lstStyle/>
          <a:p>
            <a:pPr algn="l"/>
            <a:r>
              <a:rPr sz="3600" lang="en-US">
                <a:latin typeface="Fraunces"/>
                <a:srgbClr val="12151A"/>
              </a:rPr>
              <a:t>Color Palette</a:t>
            </a:r>
            <a:endParaRPr lang="en-US"/>
          </a:p>
        </p:txBody>
      </p:sp>
      <p:sp>
        <p:nvSpPr>
          <p:cNvPr id="4" name="Swatch Background"/>
          <p:cNvSpPr/>
          <p:nvPr/>
        </p:nvSpPr>
        <p:spPr>
          <a:xfrm>
            <a:off x="731520" y="1280160"/>
            <a:ext cx="1828800" cy="822960"/>
          </a:xfrm>
          <a:prstGeom prst="roundRect">
            <a:avLst/>
          </a:prstGeom>
          <a:solidFill>
            <a:srgbClr val="F3EFE7"/>
          </a:solidFill>
          <a:ln w="12700">
            <a:solidFill>
              <a:srgbClr val="12151A">
                <a:alpha val="8000"/>
              </a:srgbClr>
            </a:solidFill>
          </a:ln>
        </p:spPr>
      </p:sp>
      <p:sp>
        <p:nvSpPr>
          <p:cNvPr id="5" name="Swatch Label Background"/>
          <p:cNvSpPr/>
          <p:nvPr/>
        </p:nvSpPr>
        <p:spPr>
          <a:xfrm>
            <a:off x="731520" y="21488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sz="900" lang="en-US" b="1">
                <a:latin typeface="Space Grotesk"/>
                <a:srgbClr val="78716C"/>
              </a:rPr>
              <a:t>BACKGROUND</a:t>
            </a:r>
            <a:endParaRPr lang="en-US"/>
          </a:p>
        </p:txBody>
      </p:sp>
      <p:sp>
        <p:nvSpPr>
          <p:cNvPr id="6" name="Swatch Surface"/>
          <p:cNvSpPr/>
          <p:nvPr/>
        </p:nvSpPr>
        <p:spPr>
          <a:xfrm>
            <a:off x="2834640" y="1280160"/>
            <a:ext cx="1828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151A">
                <a:alpha val="8000"/>
              </a:srgbClr>
            </a:solidFill>
          </a:ln>
        </p:spPr>
      </p:sp>
      <p:sp>
        <p:nvSpPr>
          <p:cNvPr id="7" name="Swatch Label Surface"/>
          <p:cNvSpPr/>
          <p:nvPr/>
        </p:nvSpPr>
        <p:spPr>
          <a:xfrm>
            <a:off x="2834640" y="21488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sz="900" lang="en-US" b="1">
                <a:latin typeface="Space Grotesk"/>
                <a:srgbClr val="78716C"/>
              </a:rPr>
              <a:t>SURFACE</a:t>
            </a:r>
            <a:endParaRPr lang="en-US"/>
          </a:p>
        </p:txBody>
      </p:sp>
      <p:sp>
        <p:nvSpPr>
          <p:cNvPr id="8" name="Swatch Surface 2"/>
          <p:cNvSpPr/>
          <p:nvPr/>
        </p:nvSpPr>
        <p:spPr>
          <a:xfrm>
            <a:off x="4937760" y="1280160"/>
            <a:ext cx="1828800" cy="822960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12151A">
                <a:alpha val="8000"/>
              </a:srgbClr>
            </a:solidFill>
          </a:ln>
        </p:spPr>
      </p:sp>
      <p:sp>
        <p:nvSpPr>
          <p:cNvPr id="9" name="Swatch Label Surface 2"/>
          <p:cNvSpPr/>
          <p:nvPr/>
        </p:nvSpPr>
        <p:spPr>
          <a:xfrm>
            <a:off x="4937760" y="21488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sz="900" lang="en-US" b="1">
                <a:latin typeface="Space Grotesk"/>
                <a:srgbClr val="78716C"/>
              </a:rPr>
              <a:t>SURFACE 2</a:t>
            </a:r>
            <a:endParaRPr lang="en-US"/>
          </a:p>
        </p:txBody>
      </p:sp>
      <p:sp>
        <p:nvSpPr>
          <p:cNvPr id="10" name="Swatch Surface 3"/>
          <p:cNvSpPr/>
          <p:nvPr/>
        </p:nvSpPr>
        <p:spPr>
          <a:xfrm>
            <a:off x="731520" y="2377440"/>
            <a:ext cx="1828800" cy="822960"/>
          </a:xfrm>
          <a:prstGeom prst="roundRect">
            <a:avLst/>
          </a:prstGeom>
          <a:solidFill>
            <a:srgbClr val="EFE9E1"/>
          </a:solidFill>
          <a:ln w="12700">
            <a:solidFill>
              <a:srgbClr val="12151A">
                <a:alpha val="8000"/>
              </a:srgbClr>
            </a:solidFill>
          </a:ln>
        </p:spPr>
      </p:sp>
      <p:sp>
        <p:nvSpPr>
          <p:cNvPr id="11" name="Swatch Label Surface 3"/>
          <p:cNvSpPr/>
          <p:nvPr/>
        </p:nvSpPr>
        <p:spPr>
          <a:xfrm>
            <a:off x="731520" y="3246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sz="900" lang="en-US" b="1">
                <a:latin typeface="Space Grotesk"/>
                <a:srgbClr val="78716C"/>
              </a:rPr>
              <a:t>SURFACE 3</a:t>
            </a:r>
            <a:endParaRPr lang="en-US"/>
          </a:p>
        </p:txBody>
      </p:sp>
      <p:sp>
        <p:nvSpPr>
          <p:cNvPr id="12" name="Swatch Ink"/>
          <p:cNvSpPr/>
          <p:nvPr/>
        </p:nvSpPr>
        <p:spPr>
          <a:xfrm>
            <a:off x="2834640" y="2377440"/>
            <a:ext cx="1828800" cy="822960"/>
          </a:xfrm>
          <a:prstGeom prst="roundRect">
            <a:avLst/>
          </a:prstGeom>
          <a:solidFill>
            <a:srgbClr val="12151A"/>
          </a:solidFill>
          <a:ln w="12700">
            <a:solidFill>
              <a:srgbClr val="12151A">
                <a:alpha val="8000"/>
              </a:srgbClr>
            </a:solidFill>
          </a:ln>
        </p:spPr>
      </p:sp>
      <p:sp>
        <p:nvSpPr>
          <p:cNvPr id="13" name="Swatch Label Ink"/>
          <p:cNvSpPr/>
          <p:nvPr/>
        </p:nvSpPr>
        <p:spPr>
          <a:xfrm>
            <a:off x="2834640" y="3246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sz="900" lang="en-US" b="1">
                <a:latin typeface="Space Grotesk"/>
                <a:srgbClr val="78716C"/>
              </a:rPr>
              <a:t>INK</a:t>
            </a:r>
            <a:endParaRPr lang="en-US"/>
          </a:p>
        </p:txBody>
      </p:sp>
      <p:sp>
        <p:nvSpPr>
          <p:cNvPr id="14" name="Swatch Muted"/>
          <p:cNvSpPr/>
          <p:nvPr/>
        </p:nvSpPr>
        <p:spPr>
          <a:xfrm>
            <a:off x="4937760" y="2377440"/>
            <a:ext cx="1828800" cy="822960"/>
          </a:xfrm>
          <a:prstGeom prst="roundRect">
            <a:avLst/>
          </a:prstGeom>
          <a:solidFill>
            <a:srgbClr val="6D737F"/>
          </a:solidFill>
          <a:ln w="12700">
            <a:solidFill>
              <a:srgbClr val="12151A">
                <a:alpha val="8000"/>
              </a:srgbClr>
            </a:solidFill>
          </a:ln>
        </p:spPr>
      </p:sp>
      <p:sp>
        <p:nvSpPr>
          <p:cNvPr id="15" name="Swatch Label Muted"/>
          <p:cNvSpPr/>
          <p:nvPr/>
        </p:nvSpPr>
        <p:spPr>
          <a:xfrm>
            <a:off x="4937760" y="3246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sz="900" lang="en-US" b="1">
                <a:latin typeface="Space Grotesk"/>
                <a:srgbClr val="78716C"/>
              </a:rPr>
              <a:t>MUTED</a:t>
            </a:r>
            <a:endParaRPr lang="en-US"/>
          </a:p>
        </p:txBody>
      </p:sp>
      <p:sp>
        <p:nvSpPr>
          <p:cNvPr id="16" name="Swatch Accent"/>
          <p:cNvSpPr/>
          <p:nvPr/>
        </p:nvSpPr>
        <p:spPr>
          <a:xfrm>
            <a:off x="731520" y="3474720"/>
            <a:ext cx="1828800" cy="822960"/>
          </a:xfrm>
          <a:prstGeom prst="roundRect">
            <a:avLst/>
          </a:prstGeom>
          <a:solidFill>
            <a:srgbClr val="7B1E2B"/>
          </a:solidFill>
          <a:ln w="12700">
            <a:solidFill>
              <a:srgbClr val="12151A">
                <a:alpha val="8000"/>
              </a:srgbClr>
            </a:solidFill>
          </a:ln>
        </p:spPr>
      </p:sp>
      <p:sp>
        <p:nvSpPr>
          <p:cNvPr id="17" name="Swatch Label Accent"/>
          <p:cNvSpPr/>
          <p:nvPr/>
        </p:nvSpPr>
        <p:spPr>
          <a:xfrm>
            <a:off x="731520" y="43434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sz="900" lang="en-US" b="1">
                <a:latin typeface="Space Grotesk"/>
                <a:srgbClr val="78716C"/>
              </a:rPr>
              <a:t>ACCENT</a:t>
            </a:r>
            <a:endParaRPr lang="en-US"/>
          </a:p>
        </p:txBody>
      </p:sp>
      <p:sp>
        <p:nvSpPr>
          <p:cNvPr id="18" name="Swatch Accent 2"/>
          <p:cNvSpPr/>
          <p:nvPr/>
        </p:nvSpPr>
        <p:spPr>
          <a:xfrm>
            <a:off x="2834640" y="3474720"/>
            <a:ext cx="1828800" cy="822960"/>
          </a:xfrm>
          <a:prstGeom prst="roundRect">
            <a:avLst/>
          </a:prstGeom>
          <a:solidFill>
            <a:srgbClr val="C2A06A"/>
          </a:solidFill>
          <a:ln w="12700">
            <a:solidFill>
              <a:srgbClr val="12151A">
                <a:alpha val="8000"/>
              </a:srgbClr>
            </a:solidFill>
          </a:ln>
        </p:spPr>
      </p:sp>
      <p:sp>
        <p:nvSpPr>
          <p:cNvPr id="19" name="Swatch Label Accent 2"/>
          <p:cNvSpPr/>
          <p:nvPr/>
        </p:nvSpPr>
        <p:spPr>
          <a:xfrm>
            <a:off x="2834640" y="43434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sz="900" lang="en-US" b="1">
                <a:latin typeface="Space Grotesk"/>
                <a:srgbClr val="78716C"/>
              </a:rPr>
              <a:t>ACCENT 2</a:t>
            </a:r>
            <a:endParaRPr lang="en-US"/>
          </a:p>
        </p:txBody>
      </p:sp>
      <p:sp>
        <p:nvSpPr>
          <p:cNvPr id="20" name="Swatch Accent 3"/>
          <p:cNvSpPr/>
          <p:nvPr/>
        </p:nvSpPr>
        <p:spPr>
          <a:xfrm>
            <a:off x="4937760" y="3474720"/>
            <a:ext cx="1828800" cy="822960"/>
          </a:xfrm>
          <a:prstGeom prst="roundRect">
            <a:avLst/>
          </a:prstGeom>
          <a:solidFill>
            <a:srgbClr val="2A6F66"/>
          </a:solidFill>
          <a:ln w="12700">
            <a:solidFill>
              <a:srgbClr val="12151A">
                <a:alpha val="8000"/>
              </a:srgbClr>
            </a:solidFill>
          </a:ln>
        </p:spPr>
      </p:sp>
      <p:sp>
        <p:nvSpPr>
          <p:cNvPr id="21" name="Swatch Label Accent 3"/>
          <p:cNvSpPr/>
          <p:nvPr/>
        </p:nvSpPr>
        <p:spPr>
          <a:xfrm>
            <a:off x="4937760" y="43434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sz="900" lang="en-US" b="1">
                <a:latin typeface="Space Grotesk"/>
                <a:srgbClr val="78716C"/>
              </a:rPr>
              <a:t>ACCENT 3</a:t>
            </a:r>
            <a:endParaRPr lang="en-US"/>
          </a:p>
        </p:txBody>
      </p:sp>
      <p:sp>
        <p:nvSpPr>
          <p:cNvPr id="22" name="Swatch Border"/>
          <p:cNvSpPr/>
          <p:nvPr/>
        </p:nvSpPr>
        <p:spPr>
          <a:xfrm>
            <a:off x="731520" y="4572000"/>
            <a:ext cx="1828800" cy="822960"/>
          </a:xfrm>
          <a:prstGeom prst="roundRect">
            <a:avLst/>
          </a:prstGeom>
          <a:solidFill>
            <a:srgbClr val="12151A"/>
          </a:solidFill>
          <a:ln w="12700">
            <a:solidFill>
              <a:srgbClr val="12151A">
                <a:alpha val="8000"/>
              </a:srgbClr>
            </a:solidFill>
          </a:ln>
        </p:spPr>
      </p:sp>
      <p:sp>
        <p:nvSpPr>
          <p:cNvPr id="23" name="Swatch Label Border"/>
          <p:cNvSpPr/>
          <p:nvPr/>
        </p:nvSpPr>
        <p:spPr>
          <a:xfrm>
            <a:off x="731520" y="54406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sz="900" lang="en-US" b="1">
                <a:latin typeface="Space Grotesk"/>
                <a:srgbClr val="78716C"/>
              </a:rPr>
              <a:t>BORDER</a:t>
            </a:r>
            <a:endParaRPr lang="en-US"/>
          </a:p>
        </p:txBody>
      </p:sp>
      <p:sp>
        <p:nvSpPr>
          <p:cNvPr id="24" name="Palette Notes"/>
          <p:cNvSpPr/>
          <p:nvPr/>
        </p:nvSpPr>
        <p:spPr>
          <a:xfrm>
            <a:off x="6583680" y="1280160"/>
            <a:ext cx="5120640" cy="42062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/>
          <a:lstStyle/>
          <a:p>
            <a:pPr algn="l"/>
            <a:r>
              <a:rPr sz="2200" lang="en-US">
                <a:latin typeface="Fraunces"/>
                <a:srgbClr val="12151A"/>
              </a:rPr>
              <a:t>Usage Notes</a:t>
            </a:r>
            <a:endParaRPr lang="en-US"/>
          </a:p>
          <a:p>
            <a:pPr algn="l" marL="228600" indent="-109728">
              <a:buChar char="•"/>
            </a:pPr>
            <a:r>
              <a:rPr sz="1400" lang="en-US">
                <a:latin typeface="Space Grotesk"/>
                <a:srgbClr val="6D737F"/>
              </a:rPr>
              <a:t>Use warm neutrals for canvas and cards</a:t>
            </a:r>
            <a:endParaRPr lang="en-US"/>
          </a:p>
          <a:p>
            <a:pPr algn="l" marL="228600" indent="-109728">
              <a:buChar char="•"/>
            </a:pPr>
            <a:r>
              <a:rPr sz="1400" lang="en-US">
                <a:latin typeface="Space Grotesk"/>
                <a:srgbClr val="6D737F"/>
              </a:rPr>
              <a:t>Burgundy drives primary actions and accents</a:t>
            </a:r>
            <a:endParaRPr lang="en-US"/>
          </a:p>
          <a:p>
            <a:pPr algn="l" marL="228600" indent="-109728">
              <a:buChar char="•"/>
            </a:pPr>
            <a:r>
              <a:rPr sz="1400" lang="en-US">
                <a:latin typeface="Space Grotesk"/>
                <a:srgbClr val="6D737F"/>
              </a:rPr>
              <a:t>Gold + teal are sparing secondary accents</a:t>
            </a:r>
            <a:endParaRPr lang="en-US"/>
          </a:p>
          <a:p>
            <a:pPr algn="l" marL="228600" indent="-109728">
              <a:buChar char="•"/>
            </a:pPr>
            <a:r>
              <a:rPr sz="1400" lang="en-US">
                <a:latin typeface="Space Grotesk"/>
                <a:srgbClr val="6D737F"/>
              </a:rPr>
              <a:t>Borders are soft and low-contrast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</p:sp>
      <p:sp>
        <p:nvSpPr>
          <p:cNvPr id="3" name="Type Title"/>
          <p:cNvSpPr/>
          <p:nvPr/>
        </p:nvSpPr>
        <p:spPr>
          <a:xfrm>
            <a:off x="731520" y="45720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/>
          <a:lstStyle/>
          <a:p>
            <a:pPr algn="l"/>
            <a:r>
              <a:rPr sz="3600" lang="en-US">
                <a:latin typeface="Fraunces"/>
                <a:srgbClr val="12151A"/>
              </a:rPr>
              <a:t>Typography &amp; Scale</a:t>
            </a:r>
            <a:endParaRPr lang="en-US"/>
          </a:p>
        </p:txBody>
      </p:sp>
      <p:sp>
        <p:nvSpPr>
          <p:cNvPr id="4" name="Display Label"/>
          <p:cNvSpPr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/>
          <a:lstStyle/>
          <a:p>
            <a:pPr algn="l"/>
            <a:r>
              <a:rPr sz="900" lang="en-US" b="1">
                <a:latin typeface="Space Grotesk"/>
                <a:srgbClr val="78716C"/>
              </a:rPr>
              <a:t>DISPLAY / FRAUNCES</a:t>
            </a:r>
            <a:endParaRPr lang="en-US"/>
          </a:p>
        </p:txBody>
      </p:sp>
      <p:sp>
        <p:nvSpPr>
          <p:cNvPr id="5" name="Display 0"/>
          <p:cNvSpPr/>
          <p:nvPr/>
        </p:nvSpPr>
        <p:spPr>
          <a:xfrm>
            <a:off x="731520" y="164592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/>
          <a:lstStyle/>
          <a:p>
            <a:pPr algn="l"/>
            <a:r>
              <a:rPr sz="4800" lang="en-US">
                <a:latin typeface="Fraunces"/>
                <a:srgbClr val="12151A"/>
              </a:rPr>
              <a:t>Hero Title</a:t>
            </a:r>
            <a:endParaRPr lang="en-US"/>
          </a:p>
        </p:txBody>
      </p:sp>
      <p:sp>
        <p:nvSpPr>
          <p:cNvPr id="6" name="Display 1"/>
          <p:cNvSpPr/>
          <p:nvPr/>
        </p:nvSpPr>
        <p:spPr>
          <a:xfrm>
            <a:off x="731520" y="246888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/>
          <a:lstStyle/>
          <a:p>
            <a:pPr algn="l"/>
            <a:r>
              <a:rPr sz="3200" lang="en-US">
                <a:latin typeface="Fraunces"/>
                <a:srgbClr val="12151A"/>
              </a:rPr>
              <a:t>Section Title</a:t>
            </a:r>
            <a:endParaRPr lang="en-US"/>
          </a:p>
        </p:txBody>
      </p:sp>
      <p:sp>
        <p:nvSpPr>
          <p:cNvPr id="7" name="Display 2"/>
          <p:cNvSpPr/>
          <p:nvPr/>
        </p:nvSpPr>
        <p:spPr>
          <a:xfrm>
            <a:off x="731520" y="329184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/>
          <a:lstStyle/>
          <a:p>
            <a:pPr algn="l"/>
            <a:r>
              <a:rPr sz="2400" lang="en-US">
                <a:latin typeface="Fraunces"/>
                <a:srgbClr val="12151A"/>
              </a:rPr>
              <a:t>Card Title</a:t>
            </a:r>
            <a:endParaRPr lang="en-US"/>
          </a:p>
        </p:txBody>
      </p:sp>
      <p:sp>
        <p:nvSpPr>
          <p:cNvPr id="8" name="Body Label"/>
          <p:cNvSpPr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/>
          <a:lstStyle/>
          <a:p>
            <a:pPr algn="l"/>
            <a:r>
              <a:rPr sz="900" lang="en-US" b="1">
                <a:latin typeface="Space Grotesk"/>
                <a:srgbClr val="78716C"/>
              </a:rPr>
              <a:t>BODY / SPACE GROTESK</a:t>
            </a:r>
            <a:endParaRPr lang="en-US"/>
          </a:p>
        </p:txBody>
      </p:sp>
      <p:sp>
        <p:nvSpPr>
          <p:cNvPr id="9" name="Body 0"/>
          <p:cNvSpPr/>
          <p:nvPr/>
        </p:nvSpPr>
        <p:spPr>
          <a:xfrm>
            <a:off x="6583680" y="164592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/>
          <a:lstStyle/>
          <a:p>
            <a:pPr algn="l"/>
            <a:r>
              <a:rPr sz="2000" lang="en-US">
                <a:latin typeface="Space Grotesk"/>
                <a:srgbClr val="6D737F"/>
              </a:rPr>
              <a:t>Body 18pt — The quick brown fox jumps over the lazy dog.</a:t>
            </a:r>
            <a:endParaRPr lang="en-US"/>
          </a:p>
        </p:txBody>
      </p:sp>
      <p:sp>
        <p:nvSpPr>
          <p:cNvPr id="10" name="Body 1"/>
          <p:cNvSpPr/>
          <p:nvPr/>
        </p:nvSpPr>
        <p:spPr>
          <a:xfrm>
            <a:off x="6583680" y="23774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/>
          <a:lstStyle/>
          <a:p>
            <a:pPr algn="l"/>
            <a:r>
              <a:rPr sz="1600" lang="en-US">
                <a:latin typeface="Space Grotesk"/>
                <a:srgbClr val="6D737F"/>
              </a:rPr>
              <a:t>Body 14pt — The quick brown fox jumps over the lazy dog.</a:t>
            </a:r>
            <a:endParaRPr lang="en-US"/>
          </a:p>
        </p:txBody>
      </p:sp>
      <p:sp>
        <p:nvSpPr>
          <p:cNvPr id="11" name="Body 2"/>
          <p:cNvSpPr/>
          <p:nvPr/>
        </p:nvSpPr>
        <p:spPr>
          <a:xfrm>
            <a:off x="6583680" y="310896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/>
          <a:lstStyle/>
          <a:p>
            <a:pPr algn="l"/>
            <a:r>
              <a:rPr sz="1200" lang="en-US">
                <a:latin typeface="Space Grotesk"/>
                <a:srgbClr val="6D737F"/>
              </a:rPr>
              <a:t>Micro 12pt — The quick brown fox jumps over the lazy dog.</a:t>
            </a:r>
            <a:endParaRPr lang="en-US"/>
          </a:p>
        </p:txBody>
      </p:sp>
      <p:sp>
        <p:nvSpPr>
          <p:cNvPr id="12" name="Eyebrow Example"/>
          <p:cNvSpPr/>
          <p:nvPr/>
        </p:nvSpPr>
        <p:spPr>
          <a:xfrm>
            <a:off x="731520" y="42976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/>
          <a:lstStyle/>
          <a:p>
            <a:pPr algn="l"/>
            <a:r>
              <a:rPr sz="900" lang="en-US" b="1">
                <a:latin typeface="Space Grotesk"/>
                <a:srgbClr val="78716C"/>
              </a:rPr>
              <a:t>UPPERCASE LABEL · 0.25em TRACKING</a:t>
            </a:r>
            <a:endParaRPr lang="en-US"/>
          </a:p>
        </p:txBody>
      </p:sp>
      <p:sp>
        <p:nvSpPr>
          <p:cNvPr id="13" name="Mono Example"/>
          <p:cNvSpPr/>
          <p:nvPr/>
        </p:nvSpPr>
        <p:spPr>
          <a:xfrm>
            <a:off x="6583680" y="429768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/>
          <a:lstStyle/>
          <a:p>
            <a:pPr algn="l"/>
            <a:r>
              <a:rPr sz="2400" lang="en-US">
                <a:latin typeface="SF Mono"/>
                <a:srgbClr val="059669"/>
              </a:rPr>
              <a:t>SCORE 82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</p:sp>
      <p:sp>
        <p:nvSpPr>
          <p:cNvPr id="3" name="Components Title"/>
          <p:cNvSpPr/>
          <p:nvPr/>
        </p:nvSpPr>
        <p:spPr>
          <a:xfrm>
            <a:off x="731520" y="45720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/>
          <a:lstStyle/>
          <a:p>
            <a:pPr algn="l"/>
            <a:r>
              <a:rPr sz="3600" lang="en-US">
                <a:latin typeface="Fraunces"/>
                <a:srgbClr val="12151A"/>
              </a:rPr>
              <a:t>UI Components</a:t>
            </a:r>
            <a:endParaRPr lang="en-US"/>
          </a:p>
        </p:txBody>
      </p:sp>
      <p:sp>
        <p:nvSpPr>
          <p:cNvPr id="4" name="Primary Button"/>
          <p:cNvSpPr/>
          <p:nvPr/>
        </p:nvSpPr>
        <p:spPr>
          <a:xfrm>
            <a:off x="731520" y="1371600"/>
            <a:ext cx="2377440" cy="548640"/>
          </a:xfrm>
          <a:prstGeom prst="roundRect">
            <a:avLst/>
          </a:prstGeom>
          <a:solidFill>
            <a:srgbClr val="7B1E2B"/>
          </a:solidFill>
          <a:ln w="12700">
            <a:solidFill>
              <a:srgbClr val="5F121D">
                <a:alpha val="60000"/>
              </a:srgbClr>
            </a:solidFill>
          </a:ln>
        </p:spPr>
        <p:txBody>
          <a:bodyPr wrap="square" anchor="ctr" lIns="45720" rIns="45720" tIns="45720" bIns="45720"/>
          <a:lstStyle/>
          <a:p>
            <a:pPr algn="c"/>
            <a:r>
              <a:rPr sz="1400" lang="en-US" b="1">
                <a:latin typeface="Space Grotesk"/>
                <a:srgbClr val="FFFFFF"/>
              </a:rPr>
              <a:t>Primary</a:t>
            </a:r>
            <a:endParaRPr lang="en-US"/>
          </a:p>
        </p:txBody>
      </p:sp>
      <p:sp>
        <p:nvSpPr>
          <p:cNvPr id="5" name="Ghost Button"/>
          <p:cNvSpPr/>
          <p:nvPr/>
        </p:nvSpPr>
        <p:spPr>
          <a:xfrm>
            <a:off x="3291840" y="1371600"/>
            <a:ext cx="23774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151A">
                <a:alpha val="10000"/>
              </a:srgbClr>
            </a:solidFill>
          </a:ln>
        </p:spPr>
        <p:txBody>
          <a:bodyPr wrap="square" anchor="ctr" lIns="45720" rIns="45720" tIns="45720" bIns="45720"/>
          <a:lstStyle/>
          <a:p>
            <a:pPr algn="c"/>
            <a:r>
              <a:rPr sz="1400" lang="en-US" b="1">
                <a:latin typeface="Space Grotesk"/>
                <a:srgbClr val="6D737F"/>
              </a:rPr>
              <a:t>Ghost</a:t>
            </a:r>
            <a:endParaRPr lang="en-US"/>
          </a:p>
        </p:txBody>
      </p:sp>
      <p:sp>
        <p:nvSpPr>
          <p:cNvPr id="6" name="Chip Active"/>
          <p:cNvSpPr/>
          <p:nvPr/>
        </p:nvSpPr>
        <p:spPr>
          <a:xfrm>
            <a:off x="731520" y="2194560"/>
            <a:ext cx="1920240" cy="411480"/>
          </a:xfrm>
          <a:prstGeom prst="roundRect">
            <a:avLst/>
          </a:prstGeom>
          <a:solidFill>
            <a:srgbClr val="7B1E2B"/>
          </a:solidFill>
          <a:ln>
            <a:noFill/>
          </a:ln>
        </p:spPr>
        <p:txBody>
          <a:bodyPr wrap="square" anchor="ctr" lIns="45720" rIns="45720" tIns="45720" bIns="45720"/>
          <a:lstStyle/>
          <a:p>
            <a:pPr algn="c"/>
            <a:r>
              <a:rPr sz="1100" lang="en-US" b="1">
                <a:latin typeface="Space Grotesk"/>
                <a:srgbClr val="FFFFFF"/>
              </a:rPr>
              <a:t>ACTIVE</a:t>
            </a:r>
            <a:endParaRPr lang="en-US"/>
          </a:p>
        </p:txBody>
      </p:sp>
      <p:sp>
        <p:nvSpPr>
          <p:cNvPr id="7" name="Chip Idle"/>
          <p:cNvSpPr/>
          <p:nvPr/>
        </p:nvSpPr>
        <p:spPr>
          <a:xfrm>
            <a:off x="2926080" y="2194560"/>
            <a:ext cx="1920240" cy="411480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12151A">
                <a:alpha val="8000"/>
              </a:srgbClr>
            </a:solidFill>
          </a:ln>
        </p:spPr>
        <p:txBody>
          <a:bodyPr wrap="square" anchor="ctr" lIns="45720" rIns="45720" tIns="45720" bIns="45720"/>
          <a:lstStyle/>
          <a:p>
            <a:pPr algn="c"/>
            <a:r>
              <a:rPr sz="1100" lang="en-US" b="1">
                <a:latin typeface="Space Grotesk"/>
                <a:srgbClr val="6D737F"/>
              </a:rPr>
              <a:t>IDLE</a:t>
            </a:r>
            <a:endParaRPr lang="en-US"/>
          </a:p>
        </p:txBody>
      </p:sp>
      <p:sp>
        <p:nvSpPr>
          <p:cNvPr id="8" name="Input"/>
          <p:cNvSpPr/>
          <p:nvPr/>
        </p:nvSpPr>
        <p:spPr>
          <a:xfrm>
            <a:off x="731520" y="2926080"/>
            <a:ext cx="4389120" cy="59436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12151A">
                <a:alpha val="10000"/>
              </a:srgbClr>
            </a:solidFill>
          </a:ln>
        </p:spPr>
        <p:txBody>
          <a:bodyPr wrap="square" anchor="ctr" lIns="109728" rIns="109728" tIns="109728" bIns="109728"/>
          <a:lstStyle/>
          <a:p>
            <a:pPr algn="l"/>
            <a:r>
              <a:rPr sz="1200" lang="en-US">
                <a:latin typeface="Space Grotesk"/>
                <a:srgbClr val="9AA3AD"/>
              </a:rPr>
              <a:t>Input field</a:t>
            </a:r>
            <a:endParaRPr lang="en-US"/>
          </a:p>
        </p:txBody>
      </p:sp>
      <p:sp>
        <p:nvSpPr>
          <p:cNvPr id="9" name="Textarea"/>
          <p:cNvSpPr/>
          <p:nvPr/>
        </p:nvSpPr>
        <p:spPr>
          <a:xfrm>
            <a:off x="731520" y="3657600"/>
            <a:ext cx="4389120" cy="100584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12151A">
                <a:alpha val="10000"/>
              </a:srgbClr>
            </a:solidFill>
          </a:ln>
        </p:spPr>
        <p:txBody>
          <a:bodyPr wrap="square" anchor="t" lIns="109728" rIns="109728" tIns="109728" bIns="109728"/>
          <a:lstStyle/>
          <a:p>
            <a:pPr algn="l"/>
            <a:r>
              <a:rPr sz="1200" lang="en-US">
                <a:latin typeface="Space Grotesk"/>
                <a:srgbClr val="9AA3AD"/>
              </a:rPr>
              <a:t>Textarea with longer content…</a:t>
            </a:r>
            <a:endParaRPr lang="en-US"/>
          </a:p>
        </p:txBody>
      </p:sp>
      <p:sp>
        <p:nvSpPr>
          <p:cNvPr id="10" name="Track"/>
          <p:cNvSpPr/>
          <p:nvPr/>
        </p:nvSpPr>
        <p:spPr>
          <a:xfrm>
            <a:off x="5669280" y="1463040"/>
            <a:ext cx="4389120" cy="164592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</p:sp>
      <p:sp>
        <p:nvSpPr>
          <p:cNvPr id="11" name="Fill"/>
          <p:cNvSpPr/>
          <p:nvPr/>
        </p:nvSpPr>
        <p:spPr>
          <a:xfrm>
            <a:off x="5669280" y="1463040"/>
            <a:ext cx="2852928" cy="164592"/>
          </a:xfrm>
          <a:prstGeom prst="roundRect">
            <a:avLst/>
          </a:prstGeom>
          <a:solidFill>
            <a:srgbClr val="7B1E2B"/>
          </a:solidFill>
          <a:ln>
            <a:noFill/>
          </a:ln>
        </p:spPr>
      </p:sp>
      <p:sp>
        <p:nvSpPr>
          <p:cNvPr id="12" name="Glass Panel"/>
          <p:cNvSpPr/>
          <p:nvPr/>
        </p:nvSpPr>
        <p:spPr>
          <a:xfrm>
            <a:off x="5669280" y="2011680"/>
            <a:ext cx="5303520" cy="2011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12151A">
                <a:alpha val="8000"/>
              </a:srgbClr>
            </a:solidFill>
          </a:ln>
        </p:spPr>
        <p:txBody>
          <a:bodyPr wrap="square" anchor="t" lIns="146304" rIns="146304" tIns="146304" bIns="146304"/>
          <a:lstStyle/>
          <a:p>
            <a:pPr algn="l"/>
            <a:r>
              <a:rPr sz="2000" lang="en-US">
                <a:latin typeface="Fraunces"/>
                <a:srgbClr val="12151A"/>
              </a:rPr>
              <a:t>Glass Panel</a:t>
            </a:r>
            <a:endParaRPr lang="en-US"/>
          </a:p>
          <a:p>
            <a:pPr algn="l"/>
            <a:r>
              <a:rPr sz="1300" lang="en-US">
                <a:latin typeface="Space Grotesk"/>
                <a:srgbClr val="6D737F"/>
              </a:rPr>
              <a:t>Use soft borders, warm gradients, and generous padding.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</p:sp>
      <p:sp>
        <p:nvSpPr>
          <p:cNvPr id="3" name="Layout Title"/>
          <p:cNvSpPr/>
          <p:nvPr/>
        </p:nvSpPr>
        <p:spPr>
          <a:xfrm>
            <a:off x="731520" y="45720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/>
          <a:lstStyle/>
          <a:p>
            <a:pPr algn="l"/>
            <a:r>
              <a:rPr sz="3600" lang="en-US">
                <a:latin typeface="Fraunces"/>
                <a:srgbClr val="12151A"/>
              </a:rPr>
              <a:t>Layout Example</a:t>
            </a:r>
            <a:endParaRPr lang="en-US"/>
          </a:p>
        </p:txBody>
      </p:sp>
      <p:sp>
        <p:nvSpPr>
          <p:cNvPr id="4" name="Layout Headline"/>
          <p:cNvSpPr/>
          <p:nvPr/>
        </p:nvSpPr>
        <p:spPr>
          <a:xfrm>
            <a:off x="731520" y="1280160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/>
          <a:lstStyle/>
          <a:p>
            <a:pPr algn="l"/>
            <a:r>
              <a:rPr sz="3200" lang="en-US">
                <a:latin typeface="Fraunces"/>
                <a:srgbClr val="12151A"/>
              </a:rPr>
              <a:t>Simulating Power Dynamics</a:t>
            </a:r>
            <a:endParaRPr lang="en-US"/>
          </a:p>
        </p:txBody>
      </p:sp>
      <p:sp>
        <p:nvSpPr>
          <p:cNvPr id="5" name="Layout Body"/>
          <p:cNvSpPr/>
          <p:nvPr/>
        </p:nvSpPr>
        <p:spPr>
          <a:xfrm>
            <a:off x="731520" y="2103120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/>
          <a:lstStyle/>
          <a:p>
            <a:pPr algn="l"/>
            <a:r>
              <a:rPr sz="1500" lang="en-US">
                <a:latin typeface="Space Grotesk"/>
                <a:srgbClr val="6D737F"/>
              </a:rPr>
              <a:t>Use strong hierarchy: serif headline, muted body, and small caps labels.</a:t>
            </a:r>
            <a:endParaRPr lang="en-US"/>
          </a:p>
        </p:txBody>
      </p:sp>
      <p:sp>
        <p:nvSpPr>
          <p:cNvPr id="6" name="Image"/>
          <p:cNvSpPr/>
          <p:nvPr/>
        </p:nvSpPr>
        <p:spPr>
          <a:xfrm>
            <a:off x="6400800" y="1280160"/>
            <a:ext cx="50292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151A">
                <a:alpha val="8000"/>
              </a:srgbClr>
            </a:solidFill>
          </a:ln>
          <a:effectLst>
            <a:outerShdw dist="90000" dir="16200000" blurRad="240000" algn="ctr" rotWithShape="0">
              <a:srgbClr val="12151A">
                <a:alpha val="12000"/>
              </a:srgbClr>
            </a:outerShdw>
          </a:effectLst>
        </p:spPr>
      </p:sp>
      <p:sp>
        <p:nvSpPr>
          <p:cNvPr id="7" name="Image Label"/>
          <p:cNvSpPr/>
          <p:nvPr/>
        </p:nvSpPr>
        <p:spPr>
          <a:xfrm>
            <a:off x="6400800" y="24688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73152" bIns="73152"/>
          <a:lstStyle/>
          <a:p>
            <a:pPr algn="c"/>
            <a:r>
              <a:rPr sz="1400" lang="en-US">
                <a:latin typeface="Space Grotesk"/>
                <a:srgbClr val="9AA3AD"/>
              </a:rPr>
              <a:t>16:9 Scene Image</a:t>
            </a:r>
            <a:endParaRPr lang="en-US"/>
          </a:p>
        </p:txBody>
      </p:sp>
      <p:sp>
        <p:nvSpPr>
          <p:cNvPr id="8" name="Card A"/>
          <p:cNvSpPr/>
          <p:nvPr/>
        </p:nvSpPr>
        <p:spPr>
          <a:xfrm>
            <a:off x="731520" y="3566160"/>
            <a:ext cx="2377440" cy="822960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12151A">
                <a:alpha val="8000"/>
              </a:srgbClr>
            </a:solidFill>
          </a:ln>
        </p:spPr>
        <p:txBody>
          <a:bodyPr wrap="square" anchor="t" lIns="109728" rIns="109728" tIns="109728" bIns="109728"/>
          <a:lstStyle/>
          <a:p>
            <a:pPr algn="l"/>
            <a:r>
              <a:rPr sz="900" lang="en-US" b="1">
                <a:latin typeface="Space Grotesk"/>
                <a:srgbClr val="78716C"/>
              </a:rPr>
              <a:t>BRANCHING</a:t>
            </a:r>
            <a:endParaRPr lang="en-US"/>
          </a:p>
          <a:p>
            <a:pPr algn="l"/>
            <a:r>
              <a:rPr sz="1200" lang="en-US">
                <a:latin typeface="Space Grotesk"/>
                <a:srgbClr val="44403C"/>
              </a:rPr>
              <a:t>Fork critical turns.</a:t>
            </a:r>
            <a:endParaRPr lang="en-US"/>
          </a:p>
        </p:txBody>
      </p:sp>
      <p:sp>
        <p:nvSpPr>
          <p:cNvPr id="9" name="Card B"/>
          <p:cNvSpPr/>
          <p:nvPr/>
        </p:nvSpPr>
        <p:spPr>
          <a:xfrm>
            <a:off x="3383280" y="3566160"/>
            <a:ext cx="2377440" cy="822960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12151A">
                <a:alpha val="8000"/>
              </a:srgbClr>
            </a:solidFill>
          </a:ln>
        </p:spPr>
        <p:txBody>
          <a:bodyPr wrap="square" anchor="t" lIns="109728" rIns="109728" tIns="109728" bIns="109728"/>
          <a:lstStyle/>
          <a:p>
            <a:pPr algn="l"/>
            <a:r>
              <a:rPr sz="900" lang="en-US" b="1">
                <a:latin typeface="Space Grotesk"/>
                <a:srgbClr val="78716C"/>
              </a:rPr>
              <a:t>AGENTS</a:t>
            </a:r>
            <a:endParaRPr lang="en-US"/>
          </a:p>
          <a:p>
            <a:pPr algn="l"/>
            <a:r>
              <a:rPr sz="1200" lang="en-US">
                <a:latin typeface="Space Grotesk"/>
                <a:srgbClr val="44403C"/>
              </a:rPr>
              <a:t>Each with evolving motives.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</p:sp>
      <p:sp>
        <p:nvSpPr>
          <p:cNvPr id="3" name="Data Title"/>
          <p:cNvSpPr/>
          <p:nvPr/>
        </p:nvSpPr>
        <p:spPr>
          <a:xfrm>
            <a:off x="731520" y="45720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73152" bIns="73152"/>
          <a:lstStyle/>
          <a:p>
            <a:pPr algn="l"/>
            <a:r>
              <a:rPr sz="3600" lang="en-US">
                <a:latin typeface="Fraunces"/>
                <a:srgbClr val="12151A"/>
              </a:rPr>
              <a:t>Data &amp; Modal Patterns</a:t>
            </a:r>
            <a:endParaRPr lang="en-US"/>
          </a:p>
        </p:txBody>
      </p:sp>
      <p:sp>
        <p:nvSpPr>
          <p:cNvPr id="4" name="Score Card"/>
          <p:cNvSpPr/>
          <p:nvPr/>
        </p:nvSpPr>
        <p:spPr>
          <a:xfrm>
            <a:off x="731520" y="1280160"/>
            <a:ext cx="4023360" cy="1463040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12151A">
                <a:alpha val="8000"/>
              </a:srgbClr>
            </a:solidFill>
          </a:ln>
        </p:spPr>
        <p:txBody>
          <a:bodyPr wrap="square" anchor="t" lIns="128016" rIns="128016" tIns="128016" bIns="128016"/>
          <a:lstStyle/>
          <a:p>
            <a:pPr algn="l"/>
            <a:r>
              <a:rPr sz="900" lang="en-US" b="1">
                <a:latin typeface="Space Grotesk"/>
                <a:srgbClr val="78716C"/>
              </a:rPr>
              <a:t>YOUR GOAL</a:t>
            </a:r>
            <a:endParaRPr lang="en-US"/>
          </a:p>
          <a:p>
            <a:pPr algn="l"/>
            <a:r>
              <a:rPr sz="3600" lang="en-US">
                <a:latin typeface="SF Mono"/>
                <a:srgbClr val="059669"/>
              </a:rPr>
              <a:t>82</a:t>
            </a:r>
            <a:endParaRPr lang="en-US"/>
          </a:p>
        </p:txBody>
      </p:sp>
      <p:sp>
        <p:nvSpPr>
          <p:cNvPr id="5" name="Track2"/>
          <p:cNvSpPr/>
          <p:nvPr/>
        </p:nvSpPr>
        <p:spPr>
          <a:xfrm>
            <a:off x="731520" y="2788920"/>
            <a:ext cx="4023360" cy="164592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</p:sp>
      <p:sp>
        <p:nvSpPr>
          <p:cNvPr id="6" name="Fill2"/>
          <p:cNvSpPr/>
          <p:nvPr/>
        </p:nvSpPr>
        <p:spPr>
          <a:xfrm>
            <a:off x="731520" y="2788920"/>
            <a:ext cx="3299155" cy="164592"/>
          </a:xfrm>
          <a:prstGeom prst="roundRect">
            <a:avLst/>
          </a:prstGeom>
          <a:solidFill>
            <a:srgbClr val="7B1E2B"/>
          </a:solidFill>
          <a:ln>
            <a:noFill/>
          </a:ln>
        </p:spPr>
      </p:sp>
      <p:sp>
        <p:nvSpPr>
          <p:cNvPr id="7" name="Timeline Pill"/>
          <p:cNvSpPr/>
          <p:nvPr/>
        </p:nvSpPr>
        <p:spPr>
          <a:xfrm>
            <a:off x="5120640" y="1325880"/>
            <a:ext cx="6217920" cy="502920"/>
          </a:xfrm>
          <a:prstGeom prst="roundRect">
            <a:avLst/>
          </a:prstGeom>
          <a:solidFill>
            <a:srgbClr val="1C1917"/>
          </a:solidFill>
          <a:ln>
            <a:noFill/>
          </a:ln>
        </p:spPr>
        <p:txBody>
          <a:bodyPr wrap="square" anchor="ctr" lIns="146304" rIns="146304" tIns="146304" bIns="146304"/>
          <a:lstStyle/>
          <a:p>
            <a:pPr algn="l"/>
            <a:r>
              <a:rPr sz="1200" lang="en-US" b="1">
                <a:latin typeface="Space Grotesk"/>
                <a:srgbClr val="FFFFFF"/>
              </a:rPr>
              <a:t>T12  •  AI Lab announces new model</a:t>
            </a:r>
            <a:endParaRPr lang="en-US"/>
          </a:p>
        </p:txBody>
      </p:sp>
      <p:sp>
        <p:nvSpPr>
          <p:cNvPr id="8" name="Modal"/>
          <p:cNvSpPr/>
          <p:nvPr/>
        </p:nvSpPr>
        <p:spPr>
          <a:xfrm>
            <a:off x="5120640" y="2011680"/>
            <a:ext cx="6035040" cy="420624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12151A">
                <a:alpha val="8000"/>
              </a:srgbClr>
            </a:solidFill>
          </a:ln>
          <a:effectLst>
            <a:outerShdw dist="90000" dir="16200000" blurRad="240000" algn="ctr" rotWithShape="0">
              <a:srgbClr val="12151A">
                <a:alpha val="12000"/>
              </a:srgbClr>
            </a:outerShdw>
          </a:effectLst>
        </p:spPr>
      </p:sp>
      <p:sp>
        <p:nvSpPr>
          <p:cNvPr id="9" name="Modal Header"/>
          <p:cNvSpPr/>
          <p:nvPr/>
        </p:nvSpPr>
        <p:spPr>
          <a:xfrm>
            <a:off x="5120640" y="2011680"/>
            <a:ext cx="60350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46304" rIns="146304" tIns="146304" bIns="146304"/>
          <a:lstStyle/>
          <a:p>
            <a:pPr algn="l"/>
            <a:r>
              <a:rPr sz="2000" lang="en-US">
                <a:latin typeface="Fraunces"/>
                <a:srgbClr val="12151A"/>
              </a:rPr>
              <a:t>Game Analysis</a:t>
            </a:r>
            <a:endParaRPr lang="en-US"/>
          </a:p>
        </p:txBody>
      </p:sp>
      <p:sp>
        <p:nvSpPr>
          <p:cNvPr id="10" name="Modal Body"/>
          <p:cNvSpPr/>
          <p:nvPr/>
        </p:nvSpPr>
        <p:spPr>
          <a:xfrm>
            <a:off x="5120640" y="2743200"/>
            <a:ext cx="6035040" cy="2194560"/>
          </a:xfrm>
          <a:prstGeom prst="rect">
            <a:avLst/>
          </a:prstGeom>
          <a:noFill/>
          <a:ln>
            <a:noFill/>
          </a:ln>
        </p:spPr>
        <p:txBody>
          <a:bodyPr wrap="square" anchor="t" lIns="146304" rIns="146304" tIns="146304" bIns="146304"/>
          <a:lstStyle/>
          <a:p>
            <a:pPr algn="l"/>
            <a:r>
              <a:rPr sz="1200" lang="en-US" b="1">
                <a:latin typeface="Space Grotesk"/>
                <a:srgbClr val="78716C"/>
              </a:rPr>
              <a:t>Key Turning Points</a:t>
            </a:r>
            <a:endParaRPr lang="en-US"/>
          </a:p>
          <a:p>
            <a:pPr algn="l" marL="228600" indent="-109728">
              <a:buChar char="•"/>
            </a:pPr>
            <a:r>
              <a:rPr sz="1200" lang="en-US">
                <a:latin typeface="Space Grotesk"/>
                <a:srgbClr val="6D737F"/>
              </a:rPr>
              <a:t>T05: Lab secures new compute</a:t>
            </a:r>
            <a:endParaRPr lang="en-US"/>
          </a:p>
          <a:p>
            <a:pPr algn="l" marL="228600" indent="-109728">
              <a:buChar char="•"/>
            </a:pPr>
            <a:r>
              <a:rPr sz="1200" lang="en-US">
                <a:latin typeface="Space Grotesk"/>
                <a:srgbClr val="6D737F"/>
              </a:rPr>
              <a:t>T09: Rival coalition fractures</a:t>
            </a:r>
            <a:endParaRPr lang="en-US"/>
          </a:p>
          <a:p>
            <a:pPr algn="l" marL="228600" indent="-109728">
              <a:buChar char="•"/>
            </a:pPr>
            <a:r>
              <a:rPr sz="1200" lang="en-US">
                <a:latin typeface="Space Grotesk"/>
                <a:srgbClr val="6D737F"/>
              </a:rPr>
              <a:t>T12: Alignment crisis contained</a:t>
            </a:r>
            <a:endParaRPr lang="en-US"/>
          </a:p>
        </p:txBody>
      </p:sp>
      <p:sp>
        <p:nvSpPr>
          <p:cNvPr id="11" name="Modal Ghost"/>
          <p:cNvSpPr/>
          <p:nvPr/>
        </p:nvSpPr>
        <p:spPr>
          <a:xfrm>
            <a:off x="5486400" y="5303520"/>
            <a:ext cx="2377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151A">
                <a:alpha val="10000"/>
              </a:srgbClr>
            </a:solidFill>
          </a:ln>
        </p:spPr>
        <p:txBody>
          <a:bodyPr wrap="square" anchor="ctr" lIns="45720" rIns="45720" tIns="45720" bIns="45720"/>
          <a:lstStyle/>
          <a:p>
            <a:pPr algn="c"/>
            <a:r>
              <a:rPr sz="1200" lang="en-US" b="1">
                <a:latin typeface="Space Grotesk"/>
                <a:srgbClr val="6D737F"/>
              </a:rPr>
              <a:t>Continue</a:t>
            </a:r>
            <a:endParaRPr lang="en-US"/>
          </a:p>
        </p:txBody>
      </p:sp>
      <p:sp>
        <p:nvSpPr>
          <p:cNvPr id="12" name="Modal Primary"/>
          <p:cNvSpPr/>
          <p:nvPr/>
        </p:nvSpPr>
        <p:spPr>
          <a:xfrm>
            <a:off x="8046720" y="5303520"/>
            <a:ext cx="2377440" cy="502920"/>
          </a:xfrm>
          <a:prstGeom prst="roundRect">
            <a:avLst/>
          </a:prstGeom>
          <a:solidFill>
            <a:srgbClr val="7B1E2B"/>
          </a:solidFill>
          <a:ln w="12700">
            <a:solidFill>
              <a:srgbClr val="5F121D">
                <a:alpha val="60000"/>
              </a:srgbClr>
            </a:solidFill>
          </a:ln>
        </p:spPr>
        <p:txBody>
          <a:bodyPr wrap="square" anchor="ctr" lIns="45720" rIns="45720" tIns="45720" bIns="45720"/>
          <a:lstStyle/>
          <a:p>
            <a:pPr algn="c"/>
            <a:r>
              <a:rPr sz="1200" lang="en-US" b="1">
                <a:latin typeface="Space Grotesk"/>
                <a:srgbClr val="FFFFFF"/>
              </a:rPr>
              <a:t>Play Again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werAI">
  <a:themeElements>
    <a:clrScheme name="PowerAI">
      <a:dk1>
        <a:srgbClr val="12151A"/>
      </a:dk1>
      <a:lt1>
        <a:srgbClr val="FFFFFF"/>
      </a:lt1>
      <a:dk2>
        <a:srgbClr val="222832"/>
      </a:dk2>
      <a:lt2>
        <a:srgbClr val="F3EFE7"/>
      </a:lt2>
      <a:accent1>
        <a:srgbClr val="7B1E2B"/>
      </a:accent1>
      <a:accent2>
        <a:srgbClr val="C2A06A"/>
      </a:accent2>
      <a:accent3>
        <a:srgbClr val="2A6F66"/>
      </a:accent3>
      <a:accent4>
        <a:srgbClr val="6D737F"/>
      </a:accent4>
      <a:accent5>
        <a:srgbClr val="9AA3AD"/>
      </a:accent5>
      <a:accent6>
        <a:srgbClr val="78716C"/>
      </a:accent6>
      <a:hlink>
        <a:srgbClr val="7B1E2B"/>
      </a:hlink>
      <a:folHlink>
        <a:srgbClr val="7B1E2B"/>
      </a:folHlink>
    </a:clrScheme>
    <a:fontScheme name="PowerAI">
      <a:majorFont>
        <a:latin typeface="Fraunces"/>
        <a:ea typeface=""/>
        <a:cs typeface=""/>
      </a:majorFont>
      <a:minorFont>
        <a:latin typeface="Space Grotesk"/>
        <a:ea typeface=""/>
        <a:cs typeface=""/>
      </a:minorFont>
    </a:fontScheme>
    <a:fmtScheme name="PowerAI">
      <a:fillStyleLst>
        <a:solidFill>
          <a:srgbClr val="FFFFFF"/>
        </a:solidFill>
        <a:solidFill>
          <a:srgbClr val="F7F4EE"/>
        </a:solidFill>
        <a:solidFill>
          <a:srgbClr val="EFE9E1"/>
        </a:solidFill>
      </a:fillStyleLst>
      <a:lnStyleLst>
        <a:ln w="12700">
          <a:solidFill>
            <a:srgbClr val="12151A">
              <a:alpha val="12000"/>
            </a:srgbClr>
          </a:solidFill>
        </a:ln>
        <a:ln w="25400">
          <a:solidFill>
            <a:srgbClr val="12151A">
              <a:alpha val="12000"/>
            </a:srgbClr>
          </a:solidFill>
        </a:ln>
        <a:ln w="38100">
          <a:solidFill>
            <a:srgbClr val="12151A">
              <a:alpha val="12000"/>
            </a:srgbClr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rgbClr val="F3EFE7"/>
        </a:solidFill>
        <a:solidFill>
          <a:srgbClr val="FFFFFF"/>
        </a:solidFill>
        <a:solidFill>
          <a:srgbClr val="F7F4EE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Slides>6</Slides>
</Properties>
</file>

<file path=docProps/core.xml><?xml version="1.0" encoding="UTF-8" standalone="yes"?>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<dc:title>Power & AI Simulator Slide Kit</dc:title><dc:creator>Codex</dc:creator><dcterms:created xsi:type="dcterms:W3CDTF">2026-02-03T04:19:14Z</dcterms:created><dcterms:modified xsi:type="dcterms:W3CDTF">2026-02-03T04:19:14Z</dcterms:modified></cp:coreProperties>
</file>